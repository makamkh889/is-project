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4" r:id="rId1"/>
  </p:sldMasterIdLst>
  <p:sldIdLst>
    <p:sldId id="256" r:id="rId2"/>
    <p:sldId id="258" r:id="rId3"/>
    <p:sldId id="257" r:id="rId4"/>
    <p:sldId id="259" r:id="rId5"/>
    <p:sldId id="260" r:id="rId6"/>
    <p:sldId id="268" r:id="rId7"/>
    <p:sldId id="266" r:id="rId8"/>
    <p:sldId id="267" r:id="rId9"/>
    <p:sldId id="261" r:id="rId10"/>
    <p:sldId id="262" r:id="rId11"/>
    <p:sldId id="264" r:id="rId12"/>
    <p:sldId id="263" r:id="rId13"/>
    <p:sldId id="265"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9BF128D-BCA3-4845-B24C-5C1FD588365F}">
          <p14:sldIdLst>
            <p14:sldId id="256"/>
            <p14:sldId id="258"/>
            <p14:sldId id="257"/>
            <p14:sldId id="259"/>
            <p14:sldId id="260"/>
            <p14:sldId id="268"/>
            <p14:sldId id="266"/>
            <p14:sldId id="267"/>
            <p14:sldId id="261"/>
            <p14:sldId id="262"/>
            <p14:sldId id="264"/>
            <p14:sldId id="263"/>
            <p14:sldId id="265"/>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68" d="100"/>
          <a:sy n="68" d="100"/>
        </p:scale>
        <p:origin x="90"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CEAD416-1C5D-4876-8626-F882A39839BF}" type="datetimeFigureOut">
              <a:rPr lang="ar-EG" smtClean="0"/>
              <a:t>03/06/1443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F0E7FCBA-31C6-4184-8253-1B2B98E80BF0}" type="slidenum">
              <a:rPr lang="ar-EG" smtClean="0"/>
              <a:t>‹#›</a:t>
            </a:fld>
            <a:endParaRPr lang="ar-E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123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EAD416-1C5D-4876-8626-F882A39839BF}" type="datetimeFigureOut">
              <a:rPr lang="ar-EG" smtClean="0"/>
              <a:t>03/06/1443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691128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CEAD416-1C5D-4876-8626-F882A39839BF}" type="datetimeFigureOut">
              <a:rPr lang="ar-EG" smtClean="0"/>
              <a:t>03/06/1443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F0E7FCBA-31C6-4184-8253-1B2B98E80BF0}" type="slidenum">
              <a:rPr lang="ar-EG" smtClean="0"/>
              <a:t>‹#›</a:t>
            </a:fld>
            <a:endParaRPr lang="ar-EG"/>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381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CEAD416-1C5D-4876-8626-F882A39839BF}" type="datetimeFigureOut">
              <a:rPr lang="ar-EG" smtClean="0"/>
              <a:t>03/06/1443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1369051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CEAD416-1C5D-4876-8626-F882A39839BF}" type="datetimeFigureOut">
              <a:rPr lang="ar-EG" smtClean="0"/>
              <a:t>03/06/1443</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189058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CEAD416-1C5D-4876-8626-F882A39839BF}" type="datetimeFigureOut">
              <a:rPr lang="ar-EG" smtClean="0"/>
              <a:t>03/06/1443</a:t>
            </a:fld>
            <a:endParaRPr lang="ar-EG"/>
          </a:p>
        </p:txBody>
      </p:sp>
      <p:sp>
        <p:nvSpPr>
          <p:cNvPr id="4" name="Footer Placeholder 3"/>
          <p:cNvSpPr>
            <a:spLocks noGrp="1"/>
          </p:cNvSpPr>
          <p:nvPr>
            <p:ph type="ftr" sz="quarter" idx="11"/>
          </p:nvPr>
        </p:nvSpPr>
        <p:spPr/>
        <p:txBody>
          <a:bodyPr/>
          <a:lstStyle/>
          <a:p>
            <a:endParaRPr lang="ar-EG"/>
          </a:p>
        </p:txBody>
      </p:sp>
      <p:sp>
        <p:nvSpPr>
          <p:cNvPr id="5" name="Slide Number Placeholder 4"/>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3496981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CEAD416-1C5D-4876-8626-F882A39839BF}" type="datetimeFigureOut">
              <a:rPr lang="ar-EG" smtClean="0"/>
              <a:t>03/06/1443</a:t>
            </a:fld>
            <a:endParaRPr lang="ar-EG"/>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ar-EG"/>
          </a:p>
        </p:txBody>
      </p:sp>
      <p:sp>
        <p:nvSpPr>
          <p:cNvPr id="9" name="Slide Number Placeholder 8"/>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39826765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CEAD416-1C5D-4876-8626-F882A39839BF}" type="datetimeFigureOut">
              <a:rPr lang="ar-EG" smtClean="0"/>
              <a:t>03/06/1443</a:t>
            </a:fld>
            <a:endParaRPr lang="ar-EG"/>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ar-EG"/>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0E7FCBA-31C6-4184-8253-1B2B98E80BF0}" type="slidenum">
              <a:rPr lang="ar-EG" smtClean="0"/>
              <a:t>‹#›</a:t>
            </a:fld>
            <a:endParaRPr lang="ar-EG"/>
          </a:p>
        </p:txBody>
      </p:sp>
    </p:spTree>
    <p:extLst>
      <p:ext uri="{BB962C8B-B14F-4D97-AF65-F5344CB8AC3E}">
        <p14:creationId xmlns:p14="http://schemas.microsoft.com/office/powerpoint/2010/main" val="3136014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EAD416-1C5D-4876-8626-F882A39839BF}" type="datetimeFigureOut">
              <a:rPr lang="ar-EG" smtClean="0"/>
              <a:t>03/06/1443</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1781510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EAD416-1C5D-4876-8626-F882A39839BF}" type="datetimeFigureOut">
              <a:rPr lang="ar-EG" smtClean="0"/>
              <a:t>03/06/1443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2063564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CEAD416-1C5D-4876-8626-F882A39839BF}" type="datetimeFigureOut">
              <a:rPr lang="ar-EG" smtClean="0"/>
              <a:t>03/06/1443</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F0E7FCBA-31C6-4184-8253-1B2B98E80BF0}" type="slidenum">
              <a:rPr lang="ar-EG" smtClean="0"/>
              <a:t>‹#›</a:t>
            </a:fld>
            <a:endParaRPr lang="ar-EG"/>
          </a:p>
        </p:txBody>
      </p:sp>
    </p:spTree>
    <p:extLst>
      <p:ext uri="{BB962C8B-B14F-4D97-AF65-F5344CB8AC3E}">
        <p14:creationId xmlns:p14="http://schemas.microsoft.com/office/powerpoint/2010/main" val="112226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CEAD416-1C5D-4876-8626-F882A39839BF}" type="datetimeFigureOut">
              <a:rPr lang="ar-EG" smtClean="0"/>
              <a:t>03/06/1443</a:t>
            </a:fld>
            <a:endParaRPr lang="ar-EG"/>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ar-EG"/>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0E7FCBA-31C6-4184-8253-1B2B98E80BF0}" type="slidenum">
              <a:rPr lang="ar-EG" smtClean="0"/>
              <a:t>‹#›</a:t>
            </a:fld>
            <a:endParaRPr lang="ar-EG"/>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18115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1"/>
            <a:ext cx="10058400" cy="3602033"/>
          </a:xfrm>
        </p:spPr>
        <p:txBody>
          <a:bodyPr>
            <a:normAutofit/>
          </a:bodyPr>
          <a:lstStyle/>
          <a:p>
            <a:r>
              <a:rPr lang="en-US" sz="6600" dirty="0">
                <a:solidFill>
                  <a:schemeClr val="accent3">
                    <a:lumMod val="20000"/>
                    <a:lumOff val="80000"/>
                  </a:schemeClr>
                </a:solidFill>
              </a:rPr>
              <a:t>School Database</a:t>
            </a:r>
            <a:endParaRPr lang="ar-EG" sz="6600" dirty="0">
              <a:solidFill>
                <a:schemeClr val="accent3">
                  <a:lumMod val="20000"/>
                  <a:lumOff val="80000"/>
                </a:schemeClr>
              </a:solidFill>
            </a:endParaRPr>
          </a:p>
        </p:txBody>
      </p:sp>
      <p:sp>
        <p:nvSpPr>
          <p:cNvPr id="3" name="Subtitle 2"/>
          <p:cNvSpPr>
            <a:spLocks noGrp="1"/>
          </p:cNvSpPr>
          <p:nvPr>
            <p:ph type="subTitle" idx="1"/>
          </p:nvPr>
        </p:nvSpPr>
        <p:spPr/>
        <p:txBody>
          <a:bodyPr/>
          <a:lstStyle/>
          <a:p>
            <a:r>
              <a:rPr lang="en-US" sz="3200" dirty="0">
                <a:solidFill>
                  <a:schemeClr val="accent3">
                    <a:lumMod val="60000"/>
                    <a:lumOff val="40000"/>
                  </a:schemeClr>
                </a:solidFill>
              </a:rPr>
              <a:t>Presentation</a:t>
            </a:r>
          </a:p>
          <a:p>
            <a:endParaRPr lang="ar-EG" dirty="0"/>
          </a:p>
        </p:txBody>
      </p:sp>
    </p:spTree>
    <p:extLst>
      <p:ext uri="{BB962C8B-B14F-4D97-AF65-F5344CB8AC3E}">
        <p14:creationId xmlns:p14="http://schemas.microsoft.com/office/powerpoint/2010/main" val="21724801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77662" y="1195754"/>
            <a:ext cx="6768905" cy="5334001"/>
          </a:xfrm>
          <a:solidFill>
            <a:schemeClr val="accent2">
              <a:lumMod val="20000"/>
              <a:lumOff val="80000"/>
            </a:schemeClr>
          </a:solidFill>
        </p:spPr>
        <p:txBody>
          <a:bodyPr>
            <a:normAutofit fontScale="90000"/>
          </a:bodyPr>
          <a:lstStyle/>
          <a:p>
            <a:r>
              <a:rPr lang="en-US" sz="3200" b="1" dirty="0">
                <a:solidFill>
                  <a:srgbClr val="C00000"/>
                </a:solidFill>
              </a:rPr>
              <a:t>Team </a:t>
            </a:r>
            <a:r>
              <a:rPr lang="en-US" sz="3200" b="1" dirty="0" smtClean="0">
                <a:solidFill>
                  <a:srgbClr val="C00000"/>
                </a:solidFill>
              </a:rPr>
              <a:t>members:</a:t>
            </a:r>
            <a:r>
              <a:rPr lang="ar-EG" sz="3200" b="1" dirty="0" smtClean="0">
                <a:solidFill>
                  <a:schemeClr val="bg2">
                    <a:lumMod val="75000"/>
                  </a:schemeClr>
                </a:solidFill>
              </a:rPr>
              <a:t/>
            </a:r>
            <a:br>
              <a:rPr lang="ar-EG" sz="3200" b="1" dirty="0" smtClean="0">
                <a:solidFill>
                  <a:schemeClr val="bg2">
                    <a:lumMod val="75000"/>
                  </a:schemeClr>
                </a:solidFill>
              </a:rPr>
            </a:br>
            <a:r>
              <a:rPr lang="en-US" sz="3200" b="1" dirty="0" smtClean="0">
                <a:solidFill>
                  <a:schemeClr val="bg2">
                    <a:lumMod val="75000"/>
                  </a:schemeClr>
                </a:solidFill>
              </a:rPr>
              <a:t/>
            </a:r>
            <a:br>
              <a:rPr lang="en-US" sz="3200" b="1" dirty="0" smtClean="0">
                <a:solidFill>
                  <a:schemeClr val="bg2">
                    <a:lumMod val="75000"/>
                  </a:schemeClr>
                </a:solidFill>
              </a:rPr>
            </a:br>
            <a:r>
              <a:rPr lang="en-US" sz="3200" b="1" dirty="0" smtClean="0">
                <a:solidFill>
                  <a:schemeClr val="tx1"/>
                </a:solidFill>
              </a:rPr>
              <a:t>Mariam </a:t>
            </a:r>
            <a:r>
              <a:rPr lang="en-US" sz="3200" b="1" dirty="0">
                <a:solidFill>
                  <a:schemeClr val="tx1"/>
                </a:solidFill>
              </a:rPr>
              <a:t>Khaled </a:t>
            </a:r>
            <a:r>
              <a:rPr lang="en-US" sz="3200" b="1" dirty="0" smtClean="0">
                <a:solidFill>
                  <a:schemeClr val="tx1"/>
                </a:solidFill>
              </a:rPr>
              <a:t>Ramadan “</a:t>
            </a:r>
            <a:r>
              <a:rPr lang="en-US" sz="3200" b="1" u="sng" dirty="0" smtClean="0">
                <a:solidFill>
                  <a:schemeClr val="tx1"/>
                </a:solidFill>
              </a:rPr>
              <a:t>Section 6</a:t>
            </a:r>
            <a:r>
              <a:rPr lang="en-US" sz="3200" b="1" u="sng" dirty="0" smtClean="0">
                <a:solidFill>
                  <a:schemeClr val="tx1"/>
                </a:solidFill>
              </a:rPr>
              <a:t>”</a:t>
            </a:r>
            <a:r>
              <a:rPr lang="ar-EG" sz="3200" b="1" u="sng" dirty="0" smtClean="0">
                <a:solidFill>
                  <a:schemeClr val="tx1"/>
                </a:solidFill>
              </a:rPr>
              <a:t/>
            </a:r>
            <a:br>
              <a:rPr lang="ar-EG" sz="3200" b="1" u="sng" dirty="0" smtClean="0">
                <a:solidFill>
                  <a:schemeClr val="tx1"/>
                </a:solidFill>
              </a:rPr>
            </a:br>
            <a:r>
              <a:rPr lang="en-US" sz="3200" dirty="0">
                <a:solidFill>
                  <a:schemeClr val="tx1"/>
                </a:solidFill>
              </a:rPr>
              <a:t/>
            </a:r>
            <a:br>
              <a:rPr lang="en-US" sz="3200" dirty="0">
                <a:solidFill>
                  <a:schemeClr val="tx1"/>
                </a:solidFill>
              </a:rPr>
            </a:br>
            <a:r>
              <a:rPr lang="en-US" sz="3200" b="1" dirty="0">
                <a:solidFill>
                  <a:schemeClr val="tx1"/>
                </a:solidFill>
              </a:rPr>
              <a:t>Mariam Ashraf </a:t>
            </a:r>
            <a:r>
              <a:rPr lang="en-US" sz="3200" b="1" dirty="0" smtClean="0">
                <a:solidFill>
                  <a:schemeClr val="tx1"/>
                </a:solidFill>
              </a:rPr>
              <a:t>Mohammed “Section 6</a:t>
            </a:r>
            <a:r>
              <a:rPr lang="en-US" sz="3200" b="1" dirty="0" smtClean="0">
                <a:solidFill>
                  <a:schemeClr val="tx1"/>
                </a:solidFill>
              </a:rPr>
              <a:t>”</a:t>
            </a:r>
            <a:r>
              <a:rPr lang="ar-EG" sz="3200" b="1" dirty="0" smtClean="0">
                <a:solidFill>
                  <a:schemeClr val="tx1"/>
                </a:solidFill>
              </a:rPr>
              <a:t/>
            </a:r>
            <a:br>
              <a:rPr lang="ar-EG" sz="3200" b="1" dirty="0" smtClean="0">
                <a:solidFill>
                  <a:schemeClr val="tx1"/>
                </a:solidFill>
              </a:rPr>
            </a:br>
            <a:r>
              <a:rPr lang="en-US" sz="3200" dirty="0">
                <a:solidFill>
                  <a:schemeClr val="tx1"/>
                </a:solidFill>
              </a:rPr>
              <a:t/>
            </a:r>
            <a:br>
              <a:rPr lang="en-US" sz="3200" dirty="0">
                <a:solidFill>
                  <a:schemeClr val="tx1"/>
                </a:solidFill>
              </a:rPr>
            </a:br>
            <a:r>
              <a:rPr lang="en-US" sz="3200" b="1" dirty="0" smtClean="0">
                <a:solidFill>
                  <a:schemeClr val="tx1"/>
                </a:solidFill>
              </a:rPr>
              <a:t>Mora </a:t>
            </a:r>
            <a:r>
              <a:rPr lang="en-US" sz="3200" b="1" dirty="0">
                <a:solidFill>
                  <a:schemeClr val="tx1"/>
                </a:solidFill>
              </a:rPr>
              <a:t>Montasser </a:t>
            </a:r>
            <a:r>
              <a:rPr lang="en-US" sz="3200" b="1" dirty="0" smtClean="0">
                <a:solidFill>
                  <a:schemeClr val="tx1"/>
                </a:solidFill>
              </a:rPr>
              <a:t>Khalf ”Section 7</a:t>
            </a:r>
            <a:r>
              <a:rPr lang="en-US" sz="3200" b="1" dirty="0" smtClean="0">
                <a:solidFill>
                  <a:schemeClr val="tx1"/>
                </a:solidFill>
              </a:rPr>
              <a:t>”</a:t>
            </a:r>
            <a:br>
              <a:rPr lang="en-US" sz="3200" b="1" dirty="0" smtClean="0">
                <a:solidFill>
                  <a:schemeClr val="tx1"/>
                </a:solidFill>
              </a:rPr>
            </a:br>
            <a:r>
              <a:rPr lang="en-US" sz="3200" b="1" dirty="0">
                <a:solidFill>
                  <a:schemeClr val="tx1"/>
                </a:solidFill>
              </a:rPr>
              <a:t/>
            </a:r>
            <a:br>
              <a:rPr lang="en-US" sz="3200" b="1" dirty="0">
                <a:solidFill>
                  <a:schemeClr val="tx1"/>
                </a:solidFill>
              </a:rPr>
            </a:br>
            <a:r>
              <a:rPr lang="en-US" sz="3200" b="1" dirty="0" smtClean="0">
                <a:solidFill>
                  <a:schemeClr val="tx1"/>
                </a:solidFill>
              </a:rPr>
              <a:t>Mariam </a:t>
            </a:r>
            <a:r>
              <a:rPr lang="en-US" sz="3200" b="1" dirty="0">
                <a:solidFill>
                  <a:schemeClr val="tx1"/>
                </a:solidFill>
              </a:rPr>
              <a:t>Salman </a:t>
            </a:r>
            <a:r>
              <a:rPr lang="en-US" sz="3200" b="1" dirty="0" smtClean="0">
                <a:solidFill>
                  <a:schemeClr val="tx1"/>
                </a:solidFill>
              </a:rPr>
              <a:t>Sedky “Section 6”</a:t>
            </a:r>
            <a:r>
              <a:rPr lang="en-US" sz="3200" dirty="0">
                <a:solidFill>
                  <a:schemeClr val="tx1"/>
                </a:solidFill>
              </a:rPr>
              <a:t/>
            </a:r>
            <a:br>
              <a:rPr lang="en-US" sz="3200" dirty="0">
                <a:solidFill>
                  <a:schemeClr val="tx1"/>
                </a:solidFill>
              </a:rPr>
            </a:br>
            <a:r>
              <a:rPr lang="en-US" sz="3200" dirty="0" smtClean="0">
                <a:solidFill>
                  <a:schemeClr val="tx1"/>
                </a:solidFill>
              </a:rPr>
              <a:t/>
            </a:r>
            <a:br>
              <a:rPr lang="en-US" sz="3200" dirty="0" smtClean="0">
                <a:solidFill>
                  <a:schemeClr val="tx1"/>
                </a:solidFill>
              </a:rPr>
            </a:br>
            <a:r>
              <a:rPr lang="en-US" sz="3200" b="1" dirty="0" smtClean="0">
                <a:solidFill>
                  <a:schemeClr val="tx1"/>
                </a:solidFill>
              </a:rPr>
              <a:t>Mariam </a:t>
            </a:r>
            <a:r>
              <a:rPr lang="en-US" sz="3200" b="1" dirty="0">
                <a:solidFill>
                  <a:schemeClr val="tx1"/>
                </a:solidFill>
              </a:rPr>
              <a:t>Mahmoud </a:t>
            </a:r>
            <a:r>
              <a:rPr lang="en-US" sz="3200" b="1" dirty="0" smtClean="0">
                <a:solidFill>
                  <a:schemeClr val="tx1"/>
                </a:solidFill>
              </a:rPr>
              <a:t>Mohamed ”Section 6 ”</a:t>
            </a:r>
            <a:r>
              <a:rPr lang="en-US" sz="3200" b="1" dirty="0">
                <a:solidFill>
                  <a:schemeClr val="bg2">
                    <a:lumMod val="75000"/>
                  </a:schemeClr>
                </a:solidFill>
              </a:rPr>
              <a:t/>
            </a:r>
            <a:br>
              <a:rPr lang="en-US" sz="3200" b="1" dirty="0">
                <a:solidFill>
                  <a:schemeClr val="bg2">
                    <a:lumMod val="75000"/>
                  </a:schemeClr>
                </a:solidFill>
              </a:rPr>
            </a:br>
            <a:r>
              <a:rPr lang="en-US" sz="3200" b="1" dirty="0">
                <a:solidFill>
                  <a:srgbClr val="FF0000"/>
                </a:solidFill>
              </a:rPr>
              <a:t/>
            </a:r>
            <a:br>
              <a:rPr lang="en-US" sz="3200" b="1" dirty="0">
                <a:solidFill>
                  <a:srgbClr val="FF0000"/>
                </a:solidFill>
              </a:rPr>
            </a:br>
            <a:endParaRPr lang="ar-EG" sz="3200" dirty="0"/>
          </a:p>
        </p:txBody>
      </p:sp>
    </p:spTree>
    <p:extLst>
      <p:ext uri="{BB962C8B-B14F-4D97-AF65-F5344CB8AC3E}">
        <p14:creationId xmlns:p14="http://schemas.microsoft.com/office/powerpoint/2010/main" val="1967041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466580"/>
            <a:ext cx="3892062" cy="5371512"/>
          </a:xfrm>
          <a:solidFill>
            <a:schemeClr val="accent2">
              <a:lumMod val="20000"/>
              <a:lumOff val="80000"/>
            </a:schemeClr>
          </a:solidFill>
        </p:spPr>
        <p:txBody>
          <a:bodyPr>
            <a:normAutofit/>
          </a:bodyPr>
          <a:lstStyle/>
          <a:p>
            <a:r>
              <a:rPr lang="en-US" sz="4000" b="1" dirty="0">
                <a:solidFill>
                  <a:srgbClr val="C00000"/>
                </a:solidFill>
              </a:rPr>
              <a:t>Tables</a:t>
            </a:r>
            <a:r>
              <a:rPr lang="en-US" sz="4000" b="1" dirty="0" smtClean="0">
                <a:solidFill>
                  <a:srgbClr val="C00000"/>
                </a:solidFill>
              </a:rPr>
              <a:t>:</a:t>
            </a:r>
            <a:br>
              <a:rPr lang="en-US" sz="4000" b="1" dirty="0" smtClean="0">
                <a:solidFill>
                  <a:srgbClr val="C00000"/>
                </a:solidFill>
              </a:rPr>
            </a:br>
            <a:r>
              <a:rPr lang="en-US" sz="4000" b="1" dirty="0">
                <a:solidFill>
                  <a:schemeClr val="tx1"/>
                </a:solidFill>
              </a:rPr>
              <a:t/>
            </a:r>
            <a:br>
              <a:rPr lang="en-US" sz="4000" b="1" dirty="0">
                <a:solidFill>
                  <a:schemeClr val="tx1"/>
                </a:solidFill>
              </a:rPr>
            </a:br>
            <a:r>
              <a:rPr lang="en-US" sz="4000" b="1" dirty="0">
                <a:solidFill>
                  <a:schemeClr val="tx1"/>
                </a:solidFill>
              </a:rPr>
              <a:t>Students table</a:t>
            </a:r>
            <a:br>
              <a:rPr lang="en-US" sz="4000" b="1" dirty="0">
                <a:solidFill>
                  <a:schemeClr val="tx1"/>
                </a:solidFill>
              </a:rPr>
            </a:br>
            <a:r>
              <a:rPr lang="en-US" sz="4000" b="1" dirty="0">
                <a:solidFill>
                  <a:schemeClr val="tx1"/>
                </a:solidFill>
              </a:rPr>
              <a:t>Teachers table</a:t>
            </a:r>
            <a:br>
              <a:rPr lang="en-US" sz="4000" b="1" dirty="0">
                <a:solidFill>
                  <a:schemeClr val="tx1"/>
                </a:solidFill>
              </a:rPr>
            </a:br>
            <a:r>
              <a:rPr lang="en-US" sz="4000" b="1" dirty="0" smtClean="0">
                <a:solidFill>
                  <a:schemeClr val="tx1"/>
                </a:solidFill>
              </a:rPr>
              <a:t>student’s grade table</a:t>
            </a:r>
            <a:r>
              <a:rPr lang="en-US" sz="4000" b="1" dirty="0">
                <a:solidFill>
                  <a:schemeClr val="tx1"/>
                </a:solidFill>
              </a:rPr>
              <a:t/>
            </a:r>
            <a:br>
              <a:rPr lang="en-US" sz="4000" b="1" dirty="0">
                <a:solidFill>
                  <a:schemeClr val="tx1"/>
                </a:solidFill>
              </a:rPr>
            </a:br>
            <a:r>
              <a:rPr lang="en-US" sz="4000" b="1" dirty="0">
                <a:solidFill>
                  <a:schemeClr val="tx1"/>
                </a:solidFill>
              </a:rPr>
              <a:t>Classes </a:t>
            </a:r>
            <a:r>
              <a:rPr lang="en-US" sz="4000" b="1" dirty="0" smtClean="0">
                <a:solidFill>
                  <a:schemeClr val="tx1"/>
                </a:solidFill>
              </a:rPr>
              <a:t>table</a:t>
            </a:r>
            <a:br>
              <a:rPr lang="en-US" sz="4000" b="1" dirty="0" smtClean="0">
                <a:solidFill>
                  <a:schemeClr val="tx1"/>
                </a:solidFill>
              </a:rPr>
            </a:br>
            <a:r>
              <a:rPr lang="en-US" sz="4000" b="1" dirty="0" smtClean="0">
                <a:solidFill>
                  <a:schemeClr val="tx1"/>
                </a:solidFill>
              </a:rPr>
              <a:t>Levels table</a:t>
            </a:r>
            <a:r>
              <a:rPr lang="en-US" sz="4000" b="1" dirty="0">
                <a:solidFill>
                  <a:schemeClr val="tx1"/>
                </a:solidFill>
              </a:rPr>
              <a:t/>
            </a:r>
            <a:br>
              <a:rPr lang="en-US" sz="4000" b="1" dirty="0">
                <a:solidFill>
                  <a:schemeClr val="tx1"/>
                </a:solidFill>
              </a:rPr>
            </a:br>
            <a:r>
              <a:rPr lang="en-US" sz="4000" b="1" dirty="0">
                <a:solidFill>
                  <a:schemeClr val="tx1"/>
                </a:solidFill>
              </a:rPr>
              <a:t>Subjects </a:t>
            </a:r>
            <a:r>
              <a:rPr lang="en-US" sz="4000" b="1" dirty="0" smtClean="0">
                <a:solidFill>
                  <a:schemeClr val="tx1"/>
                </a:solidFill>
              </a:rPr>
              <a:t>table</a:t>
            </a:r>
            <a:r>
              <a:rPr lang="en-US" sz="4000" b="1" dirty="0"/>
              <a:t/>
            </a:r>
            <a:br>
              <a:rPr lang="en-US" sz="4000" b="1" dirty="0"/>
            </a:br>
            <a:endParaRPr lang="ar-EG" sz="4000" dirty="0"/>
          </a:p>
        </p:txBody>
      </p:sp>
    </p:spTree>
    <p:extLst>
      <p:ext uri="{BB962C8B-B14F-4D97-AF65-F5344CB8AC3E}">
        <p14:creationId xmlns:p14="http://schemas.microsoft.com/office/powerpoint/2010/main" val="29322821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26942" y="590844"/>
            <a:ext cx="9762978" cy="5134708"/>
          </a:xfrm>
          <a:solidFill>
            <a:schemeClr val="accent2">
              <a:lumMod val="40000"/>
              <a:lumOff val="60000"/>
            </a:schemeClr>
          </a:solidFill>
        </p:spPr>
        <p:txBody>
          <a:bodyPr>
            <a:normAutofit fontScale="90000"/>
          </a:bodyPr>
          <a:lstStyle/>
          <a:p>
            <a:r>
              <a:rPr lang="en-US" dirty="0">
                <a:solidFill>
                  <a:schemeClr val="tx1"/>
                </a:solidFill>
              </a:rPr>
              <a:t>This database is designed to </a:t>
            </a:r>
            <a:r>
              <a:rPr lang="en-US" dirty="0" smtClean="0">
                <a:solidFill>
                  <a:schemeClr val="tx1"/>
                </a:solidFill>
              </a:rPr>
              <a:t>make </a:t>
            </a:r>
            <a:r>
              <a:rPr lang="en-US" dirty="0">
                <a:solidFill>
                  <a:schemeClr val="tx1"/>
                </a:solidFill>
              </a:rPr>
              <a:t>the school management system much easier  with the tools that it provides. To make the educational system easier and faster to process. </a:t>
            </a:r>
            <a:br>
              <a:rPr lang="en-US" dirty="0">
                <a:solidFill>
                  <a:schemeClr val="tx1"/>
                </a:solidFill>
              </a:rPr>
            </a:br>
            <a:r>
              <a:rPr lang="en-US" dirty="0">
                <a:solidFill>
                  <a:schemeClr val="tx1"/>
                </a:solidFill>
              </a:rPr>
              <a:t>It contains some good user-friendly forms to boost the data entry process. Hopefully it will be useful !!!</a:t>
            </a:r>
            <a:r>
              <a:rPr lang="en-US" dirty="0"/>
              <a:t/>
            </a:r>
            <a:br>
              <a:rPr lang="en-US" dirty="0"/>
            </a:br>
            <a:endParaRPr lang="ar-EG" dirty="0"/>
          </a:p>
        </p:txBody>
      </p:sp>
    </p:spTree>
    <p:extLst>
      <p:ext uri="{BB962C8B-B14F-4D97-AF65-F5344CB8AC3E}">
        <p14:creationId xmlns:p14="http://schemas.microsoft.com/office/powerpoint/2010/main" val="13288153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76776" y="145926"/>
            <a:ext cx="10058400" cy="1413243"/>
          </a:xfrm>
        </p:spPr>
        <p:txBody>
          <a:bodyPr/>
          <a:lstStyle/>
          <a:p>
            <a:r>
              <a:rPr lang="en-US" dirty="0" smtClean="0"/>
              <a:t>   </a:t>
            </a:r>
            <a:r>
              <a:rPr lang="en-US" dirty="0" smtClean="0">
                <a:solidFill>
                  <a:srgbClr val="FFC000"/>
                </a:solidFill>
              </a:rPr>
              <a:t>ERD </a:t>
            </a:r>
            <a:endParaRPr lang="ar-EG" dirty="0">
              <a:solidFill>
                <a:srgbClr val="FFC000"/>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071" y="1849903"/>
            <a:ext cx="10273244" cy="5008097"/>
          </a:xfrm>
          <a:prstGeom prst="rect">
            <a:avLst/>
          </a:prstGeom>
        </p:spPr>
      </p:pic>
    </p:spTree>
    <p:extLst>
      <p:ext uri="{BB962C8B-B14F-4D97-AF65-F5344CB8AC3E}">
        <p14:creationId xmlns:p14="http://schemas.microsoft.com/office/powerpoint/2010/main" val="39664856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86604"/>
            <a:ext cx="11155680" cy="1865754"/>
          </a:xfrm>
        </p:spPr>
        <p:txBody>
          <a:bodyPr/>
          <a:lstStyle/>
          <a:p>
            <a:r>
              <a:rPr lang="en-US" dirty="0" smtClean="0">
                <a:solidFill>
                  <a:schemeClr val="accent2">
                    <a:lumMod val="20000"/>
                    <a:lumOff val="80000"/>
                  </a:schemeClr>
                </a:solidFill>
              </a:rPr>
              <a:t>Student Table</a:t>
            </a:r>
            <a:endParaRPr lang="ar-EG" dirty="0">
              <a:solidFill>
                <a:schemeClr val="accent2">
                  <a:lumMod val="20000"/>
                  <a:lumOff val="80000"/>
                </a:schemeClr>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5526" y="-1"/>
            <a:ext cx="3146475" cy="4164037"/>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202087"/>
            <a:ext cx="8876714" cy="3655913"/>
          </a:xfrm>
          <a:prstGeom prst="rect">
            <a:avLst/>
          </a:prstGeom>
        </p:spPr>
      </p:pic>
    </p:spTree>
    <p:extLst>
      <p:ext uri="{BB962C8B-B14F-4D97-AF65-F5344CB8AC3E}">
        <p14:creationId xmlns:p14="http://schemas.microsoft.com/office/powerpoint/2010/main" val="29210663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8473" y="478302"/>
            <a:ext cx="11648050" cy="2166424"/>
          </a:xfrm>
        </p:spPr>
        <p:txBody>
          <a:bodyPr>
            <a:normAutofit/>
          </a:bodyPr>
          <a:lstStyle/>
          <a:p>
            <a:r>
              <a:rPr lang="en-US" dirty="0" smtClean="0">
                <a:solidFill>
                  <a:schemeClr val="tx1"/>
                </a:solidFill>
              </a:rPr>
              <a:t>                                                 </a:t>
            </a:r>
            <a:r>
              <a:rPr lang="en-US" dirty="0">
                <a:solidFill>
                  <a:schemeClr val="accent2">
                    <a:lumMod val="20000"/>
                    <a:lumOff val="80000"/>
                  </a:schemeClr>
                </a:solidFill>
              </a:rPr>
              <a:t>class</a:t>
            </a:r>
            <a:r>
              <a:rPr lang="en-US" i="1" dirty="0" smtClean="0">
                <a:solidFill>
                  <a:srgbClr val="0070C0"/>
                </a:solidFill>
              </a:rPr>
              <a:t> </a:t>
            </a:r>
            <a:r>
              <a:rPr lang="en-US" dirty="0">
                <a:solidFill>
                  <a:schemeClr val="accent2">
                    <a:lumMod val="20000"/>
                    <a:lumOff val="80000"/>
                  </a:schemeClr>
                </a:solidFill>
              </a:rPr>
              <a:t>Table</a:t>
            </a:r>
            <a:r>
              <a:rPr lang="en-US" dirty="0" smtClean="0">
                <a:solidFill>
                  <a:schemeClr val="tx1"/>
                </a:solidFill>
              </a:rPr>
              <a:t/>
            </a:r>
            <a:br>
              <a:rPr lang="en-US" dirty="0" smtClean="0">
                <a:solidFill>
                  <a:schemeClr val="tx1"/>
                </a:solidFill>
              </a:rPr>
            </a:br>
            <a:r>
              <a:rPr lang="en-US" dirty="0">
                <a:solidFill>
                  <a:schemeClr val="accent2">
                    <a:lumMod val="20000"/>
                    <a:lumOff val="80000"/>
                  </a:schemeClr>
                </a:solidFill>
              </a:rPr>
              <a:t>Teacher</a:t>
            </a:r>
            <a:r>
              <a:rPr lang="en-US" dirty="0" smtClean="0">
                <a:solidFill>
                  <a:schemeClr val="tx1"/>
                </a:solidFill>
              </a:rPr>
              <a:t> </a:t>
            </a:r>
            <a:r>
              <a:rPr lang="en-US" dirty="0">
                <a:solidFill>
                  <a:schemeClr val="accent2">
                    <a:lumMod val="20000"/>
                    <a:lumOff val="80000"/>
                  </a:schemeClr>
                </a:solidFill>
              </a:rPr>
              <a:t>table</a:t>
            </a:r>
            <a:r>
              <a:rPr lang="en-US" dirty="0"/>
              <a:t/>
            </a:r>
            <a:br>
              <a:rPr lang="en-US" dirty="0"/>
            </a:br>
            <a:endParaRPr lang="ar-E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287" y="2222695"/>
            <a:ext cx="6696222" cy="4002927"/>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0782" y="1603717"/>
            <a:ext cx="3083065" cy="4621905"/>
          </a:xfrm>
          <a:prstGeom prst="rect">
            <a:avLst/>
          </a:prstGeom>
        </p:spPr>
      </p:pic>
    </p:spTree>
    <p:extLst>
      <p:ext uri="{BB962C8B-B14F-4D97-AF65-F5344CB8AC3E}">
        <p14:creationId xmlns:p14="http://schemas.microsoft.com/office/powerpoint/2010/main" val="27178708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286604"/>
            <a:ext cx="11155680" cy="1387452"/>
          </a:xfrm>
        </p:spPr>
        <p:txBody>
          <a:bodyPr>
            <a:normAutofit/>
          </a:bodyPr>
          <a:lstStyle/>
          <a:p>
            <a:r>
              <a:rPr lang="en-US" dirty="0">
                <a:solidFill>
                  <a:schemeClr val="accent2">
                    <a:lumMod val="20000"/>
                    <a:lumOff val="80000"/>
                  </a:schemeClr>
                </a:solidFill>
              </a:rPr>
              <a:t>S</a:t>
            </a:r>
            <a:r>
              <a:rPr lang="en-US" dirty="0" smtClean="0">
                <a:solidFill>
                  <a:schemeClr val="accent2">
                    <a:lumMod val="20000"/>
                    <a:lumOff val="80000"/>
                  </a:schemeClr>
                </a:solidFill>
              </a:rPr>
              <a:t>core of student in each subject</a:t>
            </a:r>
            <a:endParaRPr lang="ar-EG" dirty="0">
              <a:solidFill>
                <a:schemeClr val="accent2">
                  <a:lumMod val="20000"/>
                  <a:lumOff val="80000"/>
                </a:schemeClr>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418730"/>
            <a:ext cx="7751298" cy="4439270"/>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9263" y="0"/>
            <a:ext cx="4032738" cy="3924886"/>
          </a:xfrm>
          <a:prstGeom prst="rect">
            <a:avLst/>
          </a:prstGeom>
        </p:spPr>
      </p:pic>
    </p:spTree>
    <p:extLst>
      <p:ext uri="{BB962C8B-B14F-4D97-AF65-F5344CB8AC3E}">
        <p14:creationId xmlns:p14="http://schemas.microsoft.com/office/powerpoint/2010/main" val="224479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64566" y="722701"/>
            <a:ext cx="8539090" cy="698135"/>
          </a:xfrm>
          <a:solidFill>
            <a:schemeClr val="accent2">
              <a:lumMod val="20000"/>
              <a:lumOff val="80000"/>
            </a:schemeClr>
          </a:solidFill>
        </p:spPr>
        <p:txBody>
          <a:bodyPr>
            <a:normAutofit fontScale="90000"/>
          </a:bodyPr>
          <a:lstStyle/>
          <a:p>
            <a:r>
              <a:rPr lang="en-US" b="1" dirty="0">
                <a:solidFill>
                  <a:schemeClr val="tx1"/>
                </a:solidFill>
              </a:rPr>
              <a:t>Photos from the user interface (Forms</a:t>
            </a:r>
            <a:r>
              <a:rPr lang="en-US" b="1" dirty="0" smtClean="0">
                <a:solidFill>
                  <a:schemeClr val="tx1"/>
                </a:solidFill>
              </a:rPr>
              <a:t>):</a:t>
            </a:r>
            <a:endParaRPr lang="ar-EG" dirty="0">
              <a:solidFill>
                <a:schemeClr val="tx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947" y="1701249"/>
            <a:ext cx="11535507" cy="5156751"/>
          </a:xfrm>
          <a:prstGeom prst="rect">
            <a:avLst/>
          </a:prstGeom>
        </p:spPr>
      </p:pic>
    </p:spTree>
    <p:extLst>
      <p:ext uri="{BB962C8B-B14F-4D97-AF65-F5344CB8AC3E}">
        <p14:creationId xmlns:p14="http://schemas.microsoft.com/office/powerpoint/2010/main" val="12927981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1364565" y="736769"/>
            <a:ext cx="9017390" cy="698135"/>
          </a:xfrm>
          <a:solidFill>
            <a:schemeClr val="accent2">
              <a:lumMod val="20000"/>
              <a:lumOff val="80000"/>
            </a:schemeClr>
          </a:solidFill>
        </p:spPr>
        <p:txBody>
          <a:bodyPr>
            <a:normAutofit fontScale="90000"/>
          </a:bodyPr>
          <a:lstStyle/>
          <a:p>
            <a:r>
              <a:rPr lang="en-US" b="1" dirty="0">
                <a:solidFill>
                  <a:schemeClr val="tx1"/>
                </a:solidFill>
              </a:rPr>
              <a:t>Photos from the user interface (Forms):</a:t>
            </a:r>
            <a:endParaRPr lang="ar-EG"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48" y="1667021"/>
            <a:ext cx="10396025" cy="5190979"/>
          </a:xfrm>
          <a:prstGeom prst="rect">
            <a:avLst/>
          </a:prstGeom>
        </p:spPr>
      </p:pic>
    </p:spTree>
    <p:extLst>
      <p:ext uri="{BB962C8B-B14F-4D97-AF65-F5344CB8AC3E}">
        <p14:creationId xmlns:p14="http://schemas.microsoft.com/office/powerpoint/2010/main" val="28165302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97" y="1819845"/>
            <a:ext cx="10789920" cy="5038155"/>
          </a:xfrm>
          <a:prstGeom prst="rect">
            <a:avLst/>
          </a:prstGeom>
        </p:spPr>
      </p:pic>
      <p:sp>
        <p:nvSpPr>
          <p:cNvPr id="5" name="Content Placeholder 2"/>
          <p:cNvSpPr>
            <a:spLocks noGrp="1"/>
          </p:cNvSpPr>
          <p:nvPr>
            <p:ph type="title"/>
          </p:nvPr>
        </p:nvSpPr>
        <p:spPr>
          <a:xfrm>
            <a:off x="1097280" y="737504"/>
            <a:ext cx="9425354" cy="809942"/>
          </a:xfrm>
          <a:solidFill>
            <a:schemeClr val="accent2">
              <a:lumMod val="20000"/>
              <a:lumOff val="80000"/>
            </a:schemeClr>
          </a:solidFill>
        </p:spPr>
        <p:txBody>
          <a:bodyPr/>
          <a:lstStyle/>
          <a:p>
            <a:r>
              <a:rPr lang="en-US" b="1" dirty="0">
                <a:solidFill>
                  <a:schemeClr val="tx1"/>
                </a:solidFill>
              </a:rPr>
              <a:t>Photos from the user interface (Forms):</a:t>
            </a:r>
            <a:endParaRPr lang="ar-EG" dirty="0"/>
          </a:p>
        </p:txBody>
      </p:sp>
    </p:spTree>
    <p:extLst>
      <p:ext uri="{BB962C8B-B14F-4D97-AF65-F5344CB8AC3E}">
        <p14:creationId xmlns:p14="http://schemas.microsoft.com/office/powerpoint/2010/main" val="30801380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1515" y="708635"/>
            <a:ext cx="8482818" cy="670000"/>
          </a:xfrm>
          <a:solidFill>
            <a:schemeClr val="accent2">
              <a:lumMod val="20000"/>
              <a:lumOff val="80000"/>
            </a:schemeClr>
          </a:solidFill>
        </p:spPr>
        <p:txBody>
          <a:bodyPr>
            <a:normAutofit fontScale="90000"/>
          </a:bodyPr>
          <a:lstStyle/>
          <a:p>
            <a:r>
              <a:rPr lang="en-US" b="1" dirty="0">
                <a:solidFill>
                  <a:schemeClr val="tx1"/>
                </a:solidFill>
              </a:rPr>
              <a:t>Photos from the user interface (Forms):</a:t>
            </a:r>
            <a:endParaRPr lang="ar-E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182" y="1778917"/>
            <a:ext cx="10536701" cy="5079083"/>
          </a:xfrm>
          <a:prstGeom prst="rect">
            <a:avLst/>
          </a:prstGeom>
        </p:spPr>
      </p:pic>
    </p:spTree>
    <p:extLst>
      <p:ext uri="{BB962C8B-B14F-4D97-AF65-F5344CB8AC3E}">
        <p14:creationId xmlns:p14="http://schemas.microsoft.com/office/powerpoint/2010/main" val="2810563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1356" y="703384"/>
            <a:ext cx="6246053" cy="1597293"/>
          </a:xfrm>
          <a:solidFill>
            <a:schemeClr val="tx2">
              <a:lumMod val="20000"/>
              <a:lumOff val="80000"/>
            </a:schemeClr>
          </a:solidFill>
        </p:spPr>
        <p:txBody>
          <a:bodyPr>
            <a:normAutofit fontScale="90000"/>
          </a:bodyPr>
          <a:lstStyle/>
          <a:p>
            <a:r>
              <a:rPr lang="en-US" dirty="0" smtClean="0">
                <a:solidFill>
                  <a:srgbClr val="FF0000"/>
                </a:solidFill>
              </a:rPr>
              <a:t>Query</a:t>
            </a:r>
            <a:r>
              <a:rPr lang="en-US" dirty="0" smtClean="0"/>
              <a:t/>
            </a:r>
            <a:br>
              <a:rPr lang="en-US" dirty="0" smtClean="0"/>
            </a:br>
            <a:r>
              <a:rPr lang="en-US" sz="4000" dirty="0" smtClean="0">
                <a:solidFill>
                  <a:schemeClr val="tx1"/>
                </a:solidFill>
              </a:rPr>
              <a:t>Show the top student and</a:t>
            </a:r>
            <a:br>
              <a:rPr lang="en-US" sz="4000" dirty="0" smtClean="0">
                <a:solidFill>
                  <a:schemeClr val="tx1"/>
                </a:solidFill>
              </a:rPr>
            </a:br>
            <a:r>
              <a:rPr lang="en-US" sz="4000" dirty="0" smtClean="0">
                <a:solidFill>
                  <a:schemeClr val="tx1"/>
                </a:solidFill>
              </a:rPr>
              <a:t>another to show repeater student</a:t>
            </a:r>
            <a:endParaRPr lang="ar-EG"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7409" y="2736776"/>
            <a:ext cx="5501991" cy="2791215"/>
          </a:xfrm>
          <a:prstGeom prst="rect">
            <a:avLst/>
          </a:prstGeom>
        </p:spPr>
      </p:pic>
    </p:spTree>
    <p:extLst>
      <p:ext uri="{BB962C8B-B14F-4D97-AF65-F5344CB8AC3E}">
        <p14:creationId xmlns:p14="http://schemas.microsoft.com/office/powerpoint/2010/main" val="11977910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8935" y="3066758"/>
            <a:ext cx="5511623" cy="3063484"/>
          </a:xfrm>
          <a:prstGeom prst="rect">
            <a:avLst/>
          </a:prstGeom>
        </p:spPr>
      </p:pic>
      <p:sp>
        <p:nvSpPr>
          <p:cNvPr id="5" name="Title 1"/>
          <p:cNvSpPr>
            <a:spLocks noGrp="1"/>
          </p:cNvSpPr>
          <p:nvPr>
            <p:ph type="title"/>
          </p:nvPr>
        </p:nvSpPr>
        <p:spPr>
          <a:xfrm>
            <a:off x="182294" y="717453"/>
            <a:ext cx="5163429" cy="1638740"/>
          </a:xfrm>
          <a:solidFill>
            <a:schemeClr val="tx2">
              <a:lumMod val="20000"/>
              <a:lumOff val="80000"/>
            </a:schemeClr>
          </a:solidFill>
        </p:spPr>
        <p:txBody>
          <a:bodyPr>
            <a:normAutofit fontScale="90000"/>
          </a:bodyPr>
          <a:lstStyle/>
          <a:p>
            <a:r>
              <a:rPr lang="en-US" dirty="0" smtClean="0">
                <a:solidFill>
                  <a:srgbClr val="FF0000"/>
                </a:solidFill>
              </a:rPr>
              <a:t>Query</a:t>
            </a:r>
            <a:r>
              <a:rPr lang="en-US" dirty="0" smtClean="0"/>
              <a:t/>
            </a:r>
            <a:br>
              <a:rPr lang="en-US" dirty="0" smtClean="0"/>
            </a:br>
            <a:r>
              <a:rPr lang="en-US" sz="4000" dirty="0" smtClean="0">
                <a:solidFill>
                  <a:schemeClr val="tx1"/>
                </a:solidFill>
              </a:rPr>
              <a:t>Delete student and</a:t>
            </a:r>
            <a:br>
              <a:rPr lang="en-US" sz="4000" dirty="0" smtClean="0">
                <a:solidFill>
                  <a:schemeClr val="tx1"/>
                </a:solidFill>
              </a:rPr>
            </a:br>
            <a:r>
              <a:rPr lang="en-US" sz="4000" dirty="0" smtClean="0">
                <a:solidFill>
                  <a:schemeClr val="tx1"/>
                </a:solidFill>
              </a:rPr>
              <a:t>another delete teacher</a:t>
            </a:r>
            <a:endParaRPr lang="ar-EG" dirty="0"/>
          </a:p>
        </p:txBody>
      </p:sp>
    </p:spTree>
    <p:extLst>
      <p:ext uri="{BB962C8B-B14F-4D97-AF65-F5344CB8AC3E}">
        <p14:creationId xmlns:p14="http://schemas.microsoft.com/office/powerpoint/2010/main" val="18208549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705" y="0"/>
            <a:ext cx="5880295" cy="4135902"/>
          </a:xfrm>
          <a:prstGeom prst="rect">
            <a:avLst/>
          </a:prstGeom>
        </p:spPr>
      </p:pic>
      <p:sp>
        <p:nvSpPr>
          <p:cNvPr id="5" name="Title 1"/>
          <p:cNvSpPr>
            <a:spLocks noGrp="1"/>
          </p:cNvSpPr>
          <p:nvPr>
            <p:ph type="title"/>
          </p:nvPr>
        </p:nvSpPr>
        <p:spPr>
          <a:xfrm>
            <a:off x="239151" y="633046"/>
            <a:ext cx="5219114" cy="1526345"/>
          </a:xfrm>
          <a:solidFill>
            <a:schemeClr val="tx2">
              <a:lumMod val="20000"/>
              <a:lumOff val="80000"/>
            </a:schemeClr>
          </a:solidFill>
        </p:spPr>
        <p:txBody>
          <a:bodyPr>
            <a:normAutofit fontScale="90000"/>
          </a:bodyPr>
          <a:lstStyle/>
          <a:p>
            <a:r>
              <a:rPr lang="en-US" dirty="0" smtClean="0">
                <a:solidFill>
                  <a:srgbClr val="FF0000"/>
                </a:solidFill>
              </a:rPr>
              <a:t>Query</a:t>
            </a:r>
            <a:r>
              <a:rPr lang="en-US" dirty="0" smtClean="0"/>
              <a:t/>
            </a:r>
            <a:br>
              <a:rPr lang="en-US" dirty="0" smtClean="0"/>
            </a:br>
            <a:r>
              <a:rPr lang="en-US" sz="4000" dirty="0" smtClean="0">
                <a:solidFill>
                  <a:schemeClr val="tx1"/>
                </a:solidFill>
              </a:rPr>
              <a:t>update student and</a:t>
            </a:r>
            <a:br>
              <a:rPr lang="en-US" sz="4000" dirty="0" smtClean="0">
                <a:solidFill>
                  <a:schemeClr val="tx1"/>
                </a:solidFill>
              </a:rPr>
            </a:br>
            <a:r>
              <a:rPr lang="en-US" sz="4000" dirty="0" smtClean="0">
                <a:solidFill>
                  <a:schemeClr val="tx1"/>
                </a:solidFill>
              </a:rPr>
              <a:t>another to update teacher</a:t>
            </a:r>
            <a:endParaRPr lang="ar-EG"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09363"/>
            <a:ext cx="5641145" cy="3848637"/>
          </a:xfrm>
          <a:prstGeom prst="rect">
            <a:avLst/>
          </a:prstGeom>
        </p:spPr>
      </p:pic>
    </p:spTree>
    <p:extLst>
      <p:ext uri="{BB962C8B-B14F-4D97-AF65-F5344CB8AC3E}">
        <p14:creationId xmlns:p14="http://schemas.microsoft.com/office/powerpoint/2010/main" val="21994887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773723"/>
            <a:ext cx="8525022" cy="1761399"/>
          </a:xfrm>
          <a:solidFill>
            <a:schemeClr val="accent2">
              <a:lumMod val="20000"/>
              <a:lumOff val="80000"/>
            </a:schemeClr>
          </a:solidFill>
        </p:spPr>
        <p:txBody>
          <a:bodyPr>
            <a:normAutofit fontScale="90000"/>
          </a:bodyPr>
          <a:lstStyle/>
          <a:p>
            <a:r>
              <a:rPr lang="en-US" dirty="0" smtClean="0">
                <a:solidFill>
                  <a:srgbClr val="FF0000"/>
                </a:solidFill>
              </a:rPr>
              <a:t>Query</a:t>
            </a:r>
            <a:r>
              <a:rPr lang="en-US" dirty="0" smtClean="0">
                <a:solidFill>
                  <a:schemeClr val="tx1"/>
                </a:solidFill>
              </a:rPr>
              <a:t/>
            </a:r>
            <a:br>
              <a:rPr lang="en-US" dirty="0" smtClean="0">
                <a:solidFill>
                  <a:schemeClr val="tx1"/>
                </a:solidFill>
              </a:rPr>
            </a:br>
            <a:r>
              <a:rPr lang="en-US" dirty="0" smtClean="0">
                <a:solidFill>
                  <a:schemeClr val="tx1"/>
                </a:solidFill>
              </a:rPr>
              <a:t>calculate score by </a:t>
            </a:r>
            <a:r>
              <a:rPr lang="en-US" sz="4000" dirty="0">
                <a:solidFill>
                  <a:schemeClr val="tx1"/>
                </a:solidFill>
              </a:rPr>
              <a:t>summation</a:t>
            </a:r>
            <a:r>
              <a:rPr lang="en-US" dirty="0" smtClean="0">
                <a:solidFill>
                  <a:schemeClr val="tx1"/>
                </a:solidFill>
              </a:rPr>
              <a:t> all subject grade</a:t>
            </a:r>
            <a:endParaRPr lang="ar-EG" dirty="0">
              <a:solidFill>
                <a:schemeClr val="tx1"/>
              </a:solidFill>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989255" y="2535123"/>
            <a:ext cx="2166425" cy="3781271"/>
          </a:xfrm>
        </p:spPr>
      </p:pic>
    </p:spTree>
    <p:extLst>
      <p:ext uri="{BB962C8B-B14F-4D97-AF65-F5344CB8AC3E}">
        <p14:creationId xmlns:p14="http://schemas.microsoft.com/office/powerpoint/2010/main" val="33320550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3046" y="314738"/>
            <a:ext cx="1997612" cy="712203"/>
          </a:xfrm>
          <a:solidFill>
            <a:schemeClr val="accent2">
              <a:lumMod val="20000"/>
              <a:lumOff val="80000"/>
            </a:schemeClr>
          </a:solidFill>
        </p:spPr>
        <p:txBody>
          <a:bodyPr>
            <a:normAutofit fontScale="90000"/>
          </a:bodyPr>
          <a:lstStyle/>
          <a:p>
            <a:r>
              <a:rPr lang="en-US" dirty="0" smtClean="0">
                <a:solidFill>
                  <a:schemeClr val="tx1"/>
                </a:solidFill>
              </a:rPr>
              <a:t> Report</a:t>
            </a:r>
            <a:endParaRPr lang="ar-EG" dirty="0">
              <a:solidFill>
                <a:schemeClr val="tx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588" y="1828800"/>
            <a:ext cx="10410092" cy="5029200"/>
          </a:xfrm>
          <a:prstGeom prst="rect">
            <a:avLst/>
          </a:prstGeom>
        </p:spPr>
      </p:pic>
    </p:spTree>
    <p:extLst>
      <p:ext uri="{BB962C8B-B14F-4D97-AF65-F5344CB8AC3E}">
        <p14:creationId xmlns:p14="http://schemas.microsoft.com/office/powerpoint/2010/main" val="14902255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81908" y="2110154"/>
            <a:ext cx="10410092" cy="4747846"/>
          </a:xfrm>
        </p:spPr>
      </p:pic>
      <p:sp>
        <p:nvSpPr>
          <p:cNvPr id="4" name="Title 1"/>
          <p:cNvSpPr>
            <a:spLocks noGrp="1"/>
          </p:cNvSpPr>
          <p:nvPr>
            <p:ph type="title"/>
          </p:nvPr>
        </p:nvSpPr>
        <p:spPr>
          <a:xfrm>
            <a:off x="182880" y="787790"/>
            <a:ext cx="2152357" cy="668215"/>
          </a:xfrm>
          <a:solidFill>
            <a:schemeClr val="accent2">
              <a:lumMod val="20000"/>
              <a:lumOff val="80000"/>
            </a:schemeClr>
          </a:solidFill>
        </p:spPr>
        <p:txBody>
          <a:bodyPr>
            <a:normAutofit fontScale="90000"/>
          </a:bodyPr>
          <a:lstStyle/>
          <a:p>
            <a:r>
              <a:rPr lang="en-US" dirty="0" smtClean="0">
                <a:solidFill>
                  <a:schemeClr val="tx1"/>
                </a:solidFill>
              </a:rPr>
              <a:t> Report</a:t>
            </a:r>
            <a:endParaRPr lang="ar-EG" dirty="0">
              <a:solidFill>
                <a:schemeClr val="tx1"/>
              </a:solidFill>
            </a:endParaRPr>
          </a:p>
        </p:txBody>
      </p:sp>
    </p:spTree>
    <p:extLst>
      <p:ext uri="{BB962C8B-B14F-4D97-AF65-F5344CB8AC3E}">
        <p14:creationId xmlns:p14="http://schemas.microsoft.com/office/powerpoint/2010/main" val="6414488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15729" y="2110155"/>
            <a:ext cx="7676271" cy="4747846"/>
          </a:xfrm>
        </p:spPr>
      </p:pic>
      <p:sp>
        <p:nvSpPr>
          <p:cNvPr id="4" name="Title 1"/>
          <p:cNvSpPr>
            <a:spLocks noGrp="1"/>
          </p:cNvSpPr>
          <p:nvPr>
            <p:ph type="title"/>
          </p:nvPr>
        </p:nvSpPr>
        <p:spPr>
          <a:xfrm>
            <a:off x="576775" y="858129"/>
            <a:ext cx="2053883" cy="808893"/>
          </a:xfrm>
          <a:solidFill>
            <a:schemeClr val="accent2">
              <a:lumMod val="20000"/>
              <a:lumOff val="80000"/>
            </a:schemeClr>
          </a:solidFill>
        </p:spPr>
        <p:txBody>
          <a:bodyPr>
            <a:normAutofit/>
          </a:bodyPr>
          <a:lstStyle/>
          <a:p>
            <a:r>
              <a:rPr lang="en-US" dirty="0" smtClean="0">
                <a:solidFill>
                  <a:schemeClr val="tx1"/>
                </a:solidFill>
              </a:rPr>
              <a:t> Report</a:t>
            </a:r>
            <a:endParaRPr lang="ar-EG" dirty="0">
              <a:solidFill>
                <a:schemeClr val="tx1"/>
              </a:solidFill>
            </a:endParaRPr>
          </a:p>
        </p:txBody>
      </p:sp>
    </p:spTree>
    <p:extLst>
      <p:ext uri="{BB962C8B-B14F-4D97-AF65-F5344CB8AC3E}">
        <p14:creationId xmlns:p14="http://schemas.microsoft.com/office/powerpoint/2010/main" val="12344907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8468" y="2835275"/>
            <a:ext cx="9988061" cy="4022725"/>
          </a:xfrm>
        </p:spPr>
      </p:pic>
      <p:sp>
        <p:nvSpPr>
          <p:cNvPr id="4" name="Title 1"/>
          <p:cNvSpPr>
            <a:spLocks noGrp="1"/>
          </p:cNvSpPr>
          <p:nvPr>
            <p:ph type="title"/>
          </p:nvPr>
        </p:nvSpPr>
        <p:spPr>
          <a:xfrm>
            <a:off x="379827" y="1434905"/>
            <a:ext cx="1927274" cy="678116"/>
          </a:xfrm>
          <a:solidFill>
            <a:schemeClr val="accent2">
              <a:lumMod val="20000"/>
              <a:lumOff val="80000"/>
            </a:schemeClr>
          </a:solidFill>
        </p:spPr>
        <p:txBody>
          <a:bodyPr>
            <a:normAutofit fontScale="90000"/>
          </a:bodyPr>
          <a:lstStyle/>
          <a:p>
            <a:r>
              <a:rPr lang="en-US" dirty="0" smtClean="0">
                <a:solidFill>
                  <a:schemeClr val="tx1"/>
                </a:solidFill>
              </a:rPr>
              <a:t> Report</a:t>
            </a:r>
            <a:endParaRPr lang="ar-EG" dirty="0">
              <a:solidFill>
                <a:schemeClr val="tx1"/>
              </a:solidFill>
            </a:endParaRPr>
          </a:p>
        </p:txBody>
      </p:sp>
    </p:spTree>
    <p:extLst>
      <p:ext uri="{BB962C8B-B14F-4D97-AF65-F5344CB8AC3E}">
        <p14:creationId xmlns:p14="http://schemas.microsoft.com/office/powerpoint/2010/main" val="15548368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ar-EG"/>
          </a:p>
        </p:txBody>
      </p:sp>
    </p:spTree>
    <p:extLst>
      <p:ext uri="{BB962C8B-B14F-4D97-AF65-F5344CB8AC3E}">
        <p14:creationId xmlns:p14="http://schemas.microsoft.com/office/powerpoint/2010/main" val="344979656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docProps/app.xml><?xml version="1.0" encoding="utf-8"?>
<Properties xmlns="http://schemas.openxmlformats.org/officeDocument/2006/extended-properties" xmlns:vt="http://schemas.openxmlformats.org/officeDocument/2006/docPropsVTypes">
  <Template>Retrospect</Template>
  <TotalTime>342</TotalTime>
  <Words>95</Words>
  <Application>Microsoft Office PowerPoint</Application>
  <PresentationFormat>Widescreen</PresentationFormat>
  <Paragraphs>21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Retrospect</vt:lpstr>
      <vt:lpstr>School Database</vt:lpstr>
      <vt:lpstr>Team members:  Mariam Khaled Ramadan “Section 6”  Mariam Ashraf Mohammed “Section 6”  Mora Montasser Khalf ”Section 7”  Mariam Salman Sedky “Section 6”  Mariam Mahmoud Mohamed ”Section 6 ”  </vt:lpstr>
      <vt:lpstr>Tables:  Students table Teachers table student’s grade table Classes table Levels table Subjects table </vt:lpstr>
      <vt:lpstr>This database is designed to make the school management system much easier  with the tools that it provides. To make the educational system easier and faster to process.  It contains some good user-friendly forms to boost the data entry process. Hopefully it will be useful !!! </vt:lpstr>
      <vt:lpstr>   ERD </vt:lpstr>
      <vt:lpstr>Student Table</vt:lpstr>
      <vt:lpstr>                                                 class Table Teacher table </vt:lpstr>
      <vt:lpstr>Score of student in each subject</vt:lpstr>
      <vt:lpstr>Photos from the user interface (Forms):</vt:lpstr>
      <vt:lpstr>Photos from the user interface (Forms):</vt:lpstr>
      <vt:lpstr>Photos from the user interface (Forms):</vt:lpstr>
      <vt:lpstr>Photos from the user interface (Forms):</vt:lpstr>
      <vt:lpstr>Query Show the top student and another to show repeater student</vt:lpstr>
      <vt:lpstr>Query Delete student and another delete teacher</vt:lpstr>
      <vt:lpstr>Query update student and another to update teacher</vt:lpstr>
      <vt:lpstr>Query calculate score by summation all subject grade</vt:lpstr>
      <vt:lpstr> Report</vt:lpstr>
      <vt:lpstr> Report</vt:lpstr>
      <vt:lpstr> Report</vt:lpstr>
      <vt:lpstr> Report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Electronica Care</dc:creator>
  <cp:lastModifiedBy>Electronica Care</cp:lastModifiedBy>
  <cp:revision>18</cp:revision>
  <dcterms:created xsi:type="dcterms:W3CDTF">2022-01-05T15:42:37Z</dcterms:created>
  <dcterms:modified xsi:type="dcterms:W3CDTF">2022-01-05T23:35:08Z</dcterms:modified>
</cp:coreProperties>
</file>